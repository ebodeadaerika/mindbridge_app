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88952" cy="13716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Arial"/>
              </a:rPr>
              <a:t>MINDBRIDGE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D0DCF0"/>
                </a:solidFill>
                <a:latin typeface="Arial"/>
              </a:rPr>
              <a:t>A Privacy-First Campus Mental Health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017520"/>
            <a:ext cx="67025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Arial"/>
              </a:rPr>
              <a:t>SEN3244 — Software Architecture  |  ICT University of Cameroon  | 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0DCF0"/>
                </a:solidFill>
                <a:latin typeface="Arial"/>
              </a:rPr>
              <a:t>Supervisor: Engr. TEKOH PALMA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4206240"/>
            <a:ext cx="5788152" cy="155448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429768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080"/>
                </a:solidFill>
                <a:latin typeface="Arial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617720"/>
            <a:ext cx="5577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EBODE ADA ERIKA ALEXANDRA  (ICTU20233909)  —  Team Leader
AJA CHELLA ASAMBA JR  (ICTU20233787)  —  Developer &amp; DevOps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120640" cy="10058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C000"/>
                </a:solidFill>
                <a:latin typeface="Arial"/>
              </a:rPr>
              <a:t>34%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"/>
              </a:rPr>
              <a:t>of African university students meet criteria for a mental health disorder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231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5090"/>
                </a:solidFill>
                <a:latin typeface="Arial"/>
              </a:rPr>
              <a:t>Yet only 8% ever seek help — why?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07792"/>
            <a:ext cx="274320" cy="27432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862072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Arial"/>
              </a:rPr>
              <a:t>Visiting a counselor carries social stigma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429000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015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Arial"/>
              </a:rPr>
              <a:t>No anonymous way to express distress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041648"/>
            <a:ext cx="274320" cy="27432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3995928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6849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Arial"/>
              </a:rPr>
              <a:t>No system tracks student wellness over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08576"/>
            <a:ext cx="274320" cy="27432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4562856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3542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Arial"/>
              </a:rPr>
              <a:t>No mechanism for discreet crisis escalation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75504"/>
            <a:ext cx="274320" cy="27432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5129784"/>
            <a:ext cx="2560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023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Arial"/>
              </a:rPr>
              <a:t>Zero support available evenings and weekends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E5090"/>
                </a:solidFill>
                <a:latin typeface="Arial"/>
              </a:rPr>
              <a:t>"Students suffer in silence because the tools don't exist."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Our Solution: MindBridge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5090"/>
                </a:solidFill>
                <a:latin typeface="Arial"/>
              </a:rPr>
              <a:t>One platform. Six features. Complete privacy.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3749039" cy="15544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090"/>
                </a:solidFill>
                <a:latin typeface="Arial"/>
              </a:rPr>
              <a:t>📊  Daily Mood Check-in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317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Anonymous 1–5 mood + energy score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737360"/>
            <a:ext cx="3749039" cy="15544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18288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090"/>
                </a:solidFill>
                <a:latin typeface="Arial"/>
              </a:rPr>
              <a:t>📓  Private Journal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19" y="23317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Encrypted entries — admins NEVER see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8" y="1737360"/>
            <a:ext cx="3749039" cy="15544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8" y="182880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090"/>
                </a:solidFill>
                <a:latin typeface="Arial"/>
              </a:rPr>
              <a:t>💬  Anonymous Forum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8" y="233172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Post as "Teal Sparrow" — no one knows it's you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29000"/>
            <a:ext cx="3749039" cy="15544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090"/>
                </a:solidFill>
                <a:latin typeface="Arial"/>
              </a:rPr>
              <a:t>🆘  Crisis Flag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02336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Alert counselors without revealing your 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3429000"/>
            <a:ext cx="3749039" cy="15544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090"/>
                </a:solidFill>
                <a:latin typeface="Arial"/>
              </a:rPr>
              <a:t>📚  Resource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402336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Articles, breathing exercises, hotlines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598" y="3429000"/>
            <a:ext cx="3749039" cy="15544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090"/>
                </a:solidFill>
                <a:latin typeface="Arial"/>
              </a:rPr>
              <a:t>🤖  MindBot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402336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24/7 empathetic AI companion (Claude API)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1792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23620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Core principle: Privacy enforced at the DATA LAYER — not just policy.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5090"/>
                </a:solidFill>
                <a:latin typeface="Arial"/>
              </a:rPr>
              <a:t>5-Layer N-Tier Hybrid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6583680" cy="74980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848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9385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React 18 + TypeScript SPA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42032"/>
            <a:ext cx="6583680" cy="749808"/>
          </a:xfrm>
          <a:prstGeom prst="rect">
            <a:avLst/>
          </a:prstGeom>
          <a:solidFill>
            <a:srgbClr val="3A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877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8950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API /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43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FastAPI + JWT + RBAC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46704"/>
            <a:ext cx="6583680" cy="749808"/>
          </a:xfrm>
          <a:prstGeom prst="rect">
            <a:avLst/>
          </a:prstGeom>
          <a:solidFill>
            <a:srgbClr val="4A8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9242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9417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BUSINESS LOGIC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5478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Services (7 domain modules)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151376"/>
            <a:ext cx="6583680" cy="749808"/>
          </a:xfrm>
          <a:prstGeom prst="rect">
            <a:avLst/>
          </a:prstGeom>
          <a:solidFill>
            <a:srgbClr val="5AA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1970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4988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DATA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35254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SQLAlchemy ORM 2.0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956048"/>
            <a:ext cx="6583680" cy="749808"/>
          </a:xfrm>
          <a:prstGeom prst="rect">
            <a:avLst/>
          </a:prstGeom>
          <a:solidFill>
            <a:srgbClr val="6AC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00176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303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515721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PostgreSQL 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1261872"/>
            <a:ext cx="4572000" cy="5212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1371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5090"/>
                </a:solidFill>
                <a:latin typeface="Arial"/>
              </a:rPr>
              <a:t>Why N-Tier?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1828800"/>
            <a:ext cx="54864" cy="73152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0" y="18288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Simpler than microservices for a
4-person, 8-week project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60" y="2926080"/>
            <a:ext cx="54864" cy="73152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29260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Each layer independently testable
→ achieved 81.84% coverage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4023360"/>
            <a:ext cx="54864" cy="73152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40233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Clear separation of concerns:
Routes | Services | Models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52360" y="5120640"/>
            <a:ext cx="54864" cy="73152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20" y="51206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Combined with Client-Server, SOA,
and Jenkins Pipeline patterns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System Component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2194560" cy="100584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5090"/>
                </a:solidFill>
                <a:latin typeface="Arial"/>
              </a:rPr>
              <a:t>React SPA
(TypeScript)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200400"/>
            <a:ext cx="2194560" cy="100584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3832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5090"/>
                </a:solidFill>
                <a:latin typeface="Arial"/>
              </a:rPr>
              <a:t>Nginx Ingress
(K8s)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28800"/>
            <a:ext cx="2377440" cy="10058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0116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FastAPI
(×2 pods)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3200400"/>
            <a:ext cx="2377440" cy="1005840"/>
          </a:xfrm>
          <a:prstGeom prst="rect">
            <a:avLst/>
          </a:prstGeom>
          <a:solidFill>
            <a:srgbClr val="33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33832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PostgreSQL
(PVC 5Gi)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1828800"/>
            <a:ext cx="2194560" cy="1005840"/>
          </a:xfrm>
          <a:prstGeom prst="rect">
            <a:avLst/>
          </a:prstGeom>
          <a:solidFill>
            <a:srgbClr val="208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Anthropic
Claude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200400"/>
            <a:ext cx="2194560" cy="1005840"/>
          </a:xfrm>
          <a:prstGeom prst="rect">
            <a:avLst/>
          </a:prstGeom>
          <a:solidFill>
            <a:srgbClr val="E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3832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Prometheus
+ Grafana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1828800"/>
            <a:ext cx="2194560" cy="100584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011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Jenkins
CI/CD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3200400"/>
            <a:ext cx="2194560" cy="1005840"/>
          </a:xfrm>
          <a:prstGeom prst="rect">
            <a:avLst/>
          </a:prstGeom>
          <a:solidFill>
            <a:srgbClr val="448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33832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Google
OAuth 2.0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53312" y="3200400"/>
            <a:ext cx="36576" cy="36576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1600" y="2834640"/>
            <a:ext cx="36576" cy="3657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68880" y="3657600"/>
            <a:ext cx="45720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2286000"/>
            <a:ext cx="45720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33087" y="2834640"/>
            <a:ext cx="36576" cy="3657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0" y="2286000"/>
            <a:ext cx="54864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03520" y="3657600"/>
            <a:ext cx="54864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2286000"/>
            <a:ext cx="45720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45720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E5090"/>
                </a:solidFill>
                <a:latin typeface="Arial"/>
              </a:rPr>
              <a:t>Key integrations: Anthropic Claude API (MindBot)  |  Google OAuth 2.0 (SSO)  |  Prometheus/Grafana (monitoring)  |  Jenkins (CI/CD)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Privacy Architecture (Key Innovation)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  <a:latin typeface="Arial"/>
              </a:rPr>
              <a:t>How do you monitor campus wellness WITHOUT exposing individual students?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11612880" cy="12344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74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671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Pseudonymization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98424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anon_token = HMAC-SHA256(user_id, SECRET_KEY)
Mood logs stored with anon_token, never user_id.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200400"/>
            <a:ext cx="11612880" cy="1234440"/>
          </a:xfrm>
          <a:prstGeom prst="rect">
            <a:avLst/>
          </a:prstGeom>
          <a:solidFill>
            <a:srgbClr val="3A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844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Structural Anonymization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0156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crisis_flags table has NO user_id column.
Identity linkage is architecturally impossible.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617720"/>
            <a:ext cx="11612880" cy="123444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CF0"/>
                </a:solidFill>
                <a:latin typeface="Arial"/>
              </a:rPr>
              <a:t>Layer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017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RBAC Enforcement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818888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Arial"/>
              </a:rPr>
              <a:t>Admin token on journal endpoint → 403 Forbidden.
Enforced at service layer, not just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0807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5090"/>
                </a:solidFill>
                <a:latin typeface="Arial"/>
              </a:rPr>
              <a:t>Result: Admin sees aggregate campus trends. Never individual identities.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Database Design — 6 Tables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2139696" cy="65836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90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325880"/>
            <a:ext cx="6345936" cy="65836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490472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Privacy Mechanism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1325880"/>
            <a:ext cx="2596896" cy="65836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4904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Admin Visible?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84248"/>
            <a:ext cx="21396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122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users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1984248"/>
            <a:ext cx="634593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112264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Source of truth — never joined to mood/crisis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69680" y="1984248"/>
            <a:ext cx="25968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211226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Basic profile only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42616"/>
            <a:ext cx="21396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7706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mood_logs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2642616"/>
            <a:ext cx="63459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2770632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anon_token (HMAC-SHA256) — no user_id column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2642616"/>
            <a:ext cx="25968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0" y="277063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Aggregate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300984"/>
            <a:ext cx="21396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429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journal_entries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3300984"/>
            <a:ext cx="634593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34290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user_id FK — API blocks all admin access → 403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3300984"/>
            <a:ext cx="25968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34290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Arial"/>
              </a:rPr>
              <a:t>NEVER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959352"/>
            <a:ext cx="21396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087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forum_posts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80" y="3959352"/>
            <a:ext cx="63459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087368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anon_name ("Teal Sparrow") in all API responses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3959352"/>
            <a:ext cx="25968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40873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Arial"/>
              </a:rPr>
              <a:t>NEVER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617720"/>
            <a:ext cx="21396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74573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crisis_flags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68880" y="4617720"/>
            <a:ext cx="634593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0320" y="4745736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NO user_id column — identity structurally impossible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4617720"/>
            <a:ext cx="25968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745736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Arial"/>
              </a:rPr>
              <a:t>NEVER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276088"/>
            <a:ext cx="21396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540410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resources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5276088"/>
            <a:ext cx="63459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0320" y="5404104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Public admin-curated library — no privacy concern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69680" y="5276088"/>
            <a:ext cx="25968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0" y="540410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Full access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Scrum Process — 2 Sprints, 93 Story 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1225296" cy="65836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536192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Sprint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371600"/>
            <a:ext cx="6345936" cy="65836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1536192"/>
            <a:ext cx="62544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Goal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371600"/>
            <a:ext cx="1225296" cy="65836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536192"/>
            <a:ext cx="11338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371600"/>
            <a:ext cx="2505456" cy="658368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08592" y="1536192"/>
            <a:ext cx="2414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29968"/>
            <a:ext cx="12252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2157984"/>
            <a:ext cx="1133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Sprint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2029968"/>
            <a:ext cx="634593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7632" y="2157984"/>
            <a:ext cx="62544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Auth + Wellness features (Mood, Journal, Forum)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029968"/>
            <a:ext cx="12252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2157984"/>
            <a:ext cx="1133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36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2029968"/>
            <a:ext cx="250545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2157984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080"/>
                </a:solidFill>
                <a:latin typeface="Arial"/>
              </a:rPr>
              <a:t>DELIVERED 36/36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688336"/>
            <a:ext cx="12252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816352"/>
            <a:ext cx="1133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Sprint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54480" y="2688336"/>
            <a:ext cx="63459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816352"/>
            <a:ext cx="62544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Admin + AI + DevOps + Testing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2688336"/>
            <a:ext cx="122529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28431" y="2816352"/>
            <a:ext cx="1133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2688336"/>
            <a:ext cx="250545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8592" y="2816352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B080"/>
                </a:solidFill>
                <a:latin typeface="Arial"/>
              </a:rPr>
              <a:t>DELIVERED 54/54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46704"/>
            <a:ext cx="12252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474720"/>
            <a:ext cx="1133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TOTAL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4480" y="3346704"/>
            <a:ext cx="634593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27632" y="3474720"/>
            <a:ext cx="62544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4 weeks | 2 team ceremonies/week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3346704"/>
            <a:ext cx="122529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28431" y="3474720"/>
            <a:ext cx="1133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93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3346704"/>
            <a:ext cx="2505456" cy="6217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08592" y="347472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100% complete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069080"/>
            <a:ext cx="3474720" cy="10058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16052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C000"/>
                </a:solidFill>
                <a:latin typeface="Arial"/>
              </a:rPr>
              <a:t>45 pts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Arial"/>
              </a:rPr>
              <a:t>average velocity per sprint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4069080"/>
            <a:ext cx="777240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51960" y="416052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Arial"/>
              </a:rPr>
              <a:t>Sprint Retrospective 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480560"/>
            <a:ext cx="7498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Both sprints were back-loaded — complex DevOps stories took longer to start.
Action item: spike infrastructure tasks FIRST in next sprint.
Ceremonies: Sprint Planning, Daily Stand-up, Review, Retrospective.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Testing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657600" cy="155448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C000"/>
                </a:solidFill>
                <a:latin typeface="Arial"/>
              </a:rPr>
              <a:t>81.84%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Test Coverage (target: 80%)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325880"/>
            <a:ext cx="2560320" cy="155448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4173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Tests Passed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325880"/>
            <a:ext cx="1828800" cy="1554480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1732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0116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Failed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2523744" cy="512064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3108960"/>
            <a:ext cx="24140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3017520"/>
            <a:ext cx="877824" cy="512064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7792" y="3108960"/>
            <a:ext cx="7680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39" y="3017520"/>
            <a:ext cx="7278624" cy="512064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1" y="3108960"/>
            <a:ext cx="71688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Focus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529584"/>
            <a:ext cx="252374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621024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test_auth.py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3529584"/>
            <a:ext cx="87782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7792" y="3621024"/>
            <a:ext cx="768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39" y="3529584"/>
            <a:ext cx="727862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2191" y="3621024"/>
            <a:ext cx="7168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Register, login, JWT, profile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041648"/>
            <a:ext cx="252374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4133088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test_mood.py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34640" y="4041648"/>
            <a:ext cx="87782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07792" y="4133088"/>
            <a:ext cx="768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4041648"/>
            <a:ext cx="727862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22191" y="4133088"/>
            <a:ext cx="7168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Check-in, history, trends, privacy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553712"/>
            <a:ext cx="252374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4645152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test_journal.py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4553712"/>
            <a:ext cx="87782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07792" y="4645152"/>
            <a:ext cx="768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4553712"/>
            <a:ext cx="727862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22191" y="4645152"/>
            <a:ext cx="7168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CRUD, admin blocked, cross-user blocked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065776"/>
            <a:ext cx="252374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5157216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test_forum.py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34640" y="5065776"/>
            <a:ext cx="87782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07792" y="5157216"/>
            <a:ext cx="768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5065776"/>
            <a:ext cx="727862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22191" y="5157216"/>
            <a:ext cx="7168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Posts, replies, moderation, anonymity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577840"/>
            <a:ext cx="252374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5669280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test_crisis.py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34640" y="5577840"/>
            <a:ext cx="87782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07792" y="5669280"/>
            <a:ext cx="768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10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49039" y="5577840"/>
            <a:ext cx="7278624" cy="4937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22191" y="5669280"/>
            <a:ext cx="7168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Submission, admin alerts, resolution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6089904"/>
            <a:ext cx="252374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7472" y="6181344"/>
            <a:ext cx="2414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test_resources.py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34640" y="6089904"/>
            <a:ext cx="87782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07792" y="6181344"/>
            <a:ext cx="768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49039" y="6089904"/>
            <a:ext cx="7278624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22191" y="6181344"/>
            <a:ext cx="7168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Listing, admin CRUD, categories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CI/CD Pipeline — 9-Stage Jenkins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417320"/>
            <a:ext cx="1234440" cy="82296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Checkout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Clone repo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1417320"/>
            <a:ext cx="1234440" cy="82296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81912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pip install + 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43784" y="1417320"/>
            <a:ext cx="1234440" cy="82296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Lint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flake8 + eslint (parallel)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1376" y="1417320"/>
            <a:ext cx="1234440" cy="82296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7952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7952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pytest --cov-fail-under=80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58968" y="1417320"/>
            <a:ext cx="1234440" cy="82296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5544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Security 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5544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bandit (HIGH → fail)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1417320"/>
            <a:ext cx="1234440" cy="822960"/>
          </a:xfrm>
          <a:prstGeom prst="rect">
            <a:avLst/>
          </a:prstGeom>
          <a:solidFill>
            <a:srgbClr val="1F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3136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Docker 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03136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API + Frontend images (parallel)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74152" y="1417320"/>
            <a:ext cx="1234440" cy="822960"/>
          </a:xfrm>
          <a:prstGeom prst="rect">
            <a:avLst/>
          </a:prstGeom>
          <a:solidFill>
            <a:srgbClr val="1F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8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Docker Push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main branch only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81744" y="1417320"/>
            <a:ext cx="1234440" cy="822960"/>
          </a:xfrm>
          <a:prstGeom prst="rect">
            <a:avLst/>
          </a:prstGeom>
          <a:solidFill>
            <a:srgbClr val="1F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Deploy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kubectl rollout restart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89336" y="1417320"/>
            <a:ext cx="1234440" cy="822960"/>
          </a:xfrm>
          <a:prstGeom prst="rect">
            <a:avLst/>
          </a:prstGeom>
          <a:solidFill>
            <a:srgbClr val="1F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35056" y="14538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C000"/>
                </a:solidFill>
                <a:latin typeface="Arial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5912" y="1709928"/>
            <a:ext cx="11612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Notify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25912" y="198424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D0DCF0"/>
                </a:solidFill>
                <a:latin typeface="Arial"/>
              </a:rPr>
              <a:t>success / failure notification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2276856"/>
            <a:ext cx="11731752" cy="9144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4320" y="2560320"/>
            <a:ext cx="539496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2606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Arial"/>
              </a:rPr>
              <a:t>Test Gate (Stage 4)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2880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Build FAILS if test coverage &lt; 80%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2560320"/>
            <a:ext cx="603504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26060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Arial"/>
              </a:rPr>
              <a:t>Security Gate (Stage 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2880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Build FAILS if Bandit finds HIGH severity issues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520440"/>
            <a:ext cx="11612880" cy="2560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56616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DDFF"/>
                </a:solidFill>
                <a:latin typeface="Courier New"/>
              </a:rPr>
              <a:t>pipeline {
  agent any
  stages {
    stage('Test') { steps { sh 'pytest --cov=app --cov-fail-under=80' } }
    stage('Security') { steps { sh 'bandit -r app/ -ll -ii' } }
    stage('Docker Build') { parallel {
      stage('API') { steps { sh 'docker build -t mindbridge-api .' } }
      stage('Frontend') { steps { sh 'docker build -t mindbridge-frontend frontend/' } }
    }}
    stage('Deploy') { when { branch 'main' }
      steps { sh 'kubectl rollout restart deployment/mindbridge-api -n mindbridge' } }
  }
}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Kubernetes Deployment — 8 Manifest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89888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4538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namespace.yaml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4708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mindbridge namespace isolation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89888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4538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pvc.yaml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84708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PostgreSQL PersistentVolumeClaim (5Gi)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377440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44144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ingress.yaml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834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Nginx Ingress + ConfigMap + Secrets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77440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244144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service.yaml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8346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ClusterIP services + PostgreSQL deployment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364992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3429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deployment.yaml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8221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API — 2 replicas, rolling update, initContainer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64992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7648" y="3429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frontend.yaml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38221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Frontend — 2 replicas + service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352544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441655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hpa.yaml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80974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HorizontalPodAutoscaler: 2–8 pods, CPU &gt; 70%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352544"/>
            <a:ext cx="5669280" cy="8686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441655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Courier New"/>
              </a:rPr>
              <a:t>networkpolicy.yaml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80974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DB accessible only from API pods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349240"/>
            <a:ext cx="11612880" cy="914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41324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DDFF"/>
                </a:solidFill>
                <a:latin typeface="Courier New"/>
              </a:rPr>
              <a:t># One-command deploy
kubectl apply -k mindbridge-backend/k8s/
# OR: bash mindbridge-backend/k8s/deploy.sh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Monitoring — Prometheus + Grafana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389888"/>
            <a:ext cx="36576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389888"/>
            <a:ext cx="365760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9961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Total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385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http_requests_total counter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389888"/>
            <a:ext cx="36576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9080" y="1389888"/>
            <a:ext cx="365760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49961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Error Rate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385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5xx / total × 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389888"/>
            <a:ext cx="36576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60" y="1389888"/>
            <a:ext cx="365760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49961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Response Time p95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9385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http_request_duration_seconds histogram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807208"/>
            <a:ext cx="36576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2807208"/>
            <a:ext cx="365760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169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Running Replicas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558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kube_deployment_status_replicas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2807208"/>
            <a:ext cx="36576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9080" y="2807208"/>
            <a:ext cx="365760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0" y="29169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Requests/Endpoint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3558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Top routes by req/min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09560" y="2807208"/>
            <a:ext cx="365760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09560" y="2807208"/>
            <a:ext cx="365760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291693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Latency Heatmap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33558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urier New"/>
              </a:rPr>
              <a:t>p50 / p95 / p99 comparison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4160520"/>
            <a:ext cx="11704320" cy="1463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2519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Alert Rules Configured: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61772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CF0"/>
                </a:solidFill>
                <a:latin typeface="Arial"/>
              </a:rPr>
              <a:t>Error rate &gt; 5% → Critical  |  p95 latency &gt; 2s → Warning  |  Replicas &lt; 2 → Critical  |  Crisis flags &gt; 10/hour → Warning (surge detection)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576072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BBBB"/>
                </a:solidFill>
                <a:latin typeface="Arial"/>
              </a:rPr>
              <a:t>Grafana: http://localhost:3001  (admin / mindbridge123)  |  Prometheus: http://localhost:9090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Ansible Configuration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33333"/>
                </a:solidFill>
                <a:latin typeface="Arial"/>
              </a:rPr>
              <a:t>2 playbooks automate the entire VPS setup end-to-end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116128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1161288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5090"/>
                </a:solidFill>
                <a:latin typeface="Courier New"/>
              </a:rPr>
              <a:t>install_dependencies.yml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317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Arial"/>
              </a:rPr>
              <a:t>Installs Docker, Python 3.11, Nginx on Ubuntu VPS
Configures UFW firewall (ports 22, 80, 443)
Sets up Docker systemd 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749040"/>
            <a:ext cx="116128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3749040"/>
            <a:ext cx="1161288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5090"/>
                </a:solidFill>
                <a:latin typeface="Courier New"/>
              </a:rPr>
              <a:t>deploy_app.yml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434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Arial"/>
              </a:rPr>
              <a:t>Templates .env from Jinja2 (.env.j2)
Pulls latest Docker images
Runs docker compose up -d --build
Configures Nginx reverse proxy
Health-checks the deployment post-start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669280"/>
            <a:ext cx="11612880" cy="7772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74243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DDFF"/>
                </a:solidFill>
                <a:latin typeface="Courier New"/>
              </a:rPr>
              <a:t>ansible-playbook -i inventory/hosts.ini playbooks/install_dependencies.yml playbooks/deploy_app.yml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MindBot AI Companion — Innovation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5090"/>
                </a:solidFill>
                <a:latin typeface="Arial"/>
              </a:rPr>
              <a:t>Technology: Anthropic Claude API (claude-3-5-haiku)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585216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2880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5090"/>
                </a:solidFill>
                <a:latin typeface="Arial"/>
              </a:rPr>
              <a:t>System Prompt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5577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33333"/>
                </a:solidFill>
                <a:latin typeface="Courier New"/>
              </a:rPr>
              <a:t>"You are MindBot, an empathetic AI wellness companion
for university students. Listen without judgment.
Suggest evidence-based coping strategies. Guide
toward professional support when appropriate.
Do NOT diagnose or replace therapy."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160520"/>
            <a:ext cx="5852160" cy="73152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251960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Privacy: Conversations NOT stored server-side.
Client sends full context per request. Zero retention.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98448"/>
            <a:ext cx="5486400" cy="44805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5090"/>
                </a:solidFill>
                <a:latin typeface="Arial"/>
              </a:rPr>
              <a:t>Sample Conversation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1810512"/>
            <a:ext cx="4297680" cy="64008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86537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5090"/>
                </a:solidFill>
                <a:latin typeface="Arial"/>
              </a:rPr>
              <a:t>Student: "I'm really stressed about finals"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606040"/>
            <a:ext cx="5120640" cy="155448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670048"/>
            <a:ext cx="4892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MindBot: "I hear you — exam pressure is real and valid.
Let's try a quick grounding technique: name 5 things
you can see around you right now..."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315968"/>
            <a:ext cx="4297680" cy="54864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43708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5090"/>
                </a:solidFill>
                <a:latin typeface="Arial"/>
              </a:rPr>
              <a:t>Student: "ok trying it now... I feel better"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Frontend — 25 Screens, React 18 + TypeScript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  <a:latin typeface="Arial"/>
              </a:rPr>
              <a:t>Responsive: Mobile (bottom nav) → Tablet → Desktop (side nav)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737360"/>
            <a:ext cx="3657600" cy="137160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74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Student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Mood card, quick check-in, recent journal entries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59936" y="1737360"/>
            <a:ext cx="3657600" cy="137160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97096" y="1874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Mood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Recharts line chart with date range picker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91272" y="1737360"/>
            <a:ext cx="3657600" cy="137160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2" y="1874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Anonymous Forum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8432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"Teal Sparrow" animal names — no identity linkage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291840"/>
            <a:ext cx="3657600" cy="137160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29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Crisis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86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Severity selector with immediate help contacts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59936" y="3291840"/>
            <a:ext cx="3657600" cy="1371600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7096" y="3429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MindBot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7096" y="3886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Chat bubbles with typing indicator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3291840"/>
            <a:ext cx="3657600" cy="137160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3429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Admin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8862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rial"/>
              </a:rPr>
              <a:t>Campus mood trends, crisis count, alert feed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Security — Defence in Depth (9 Layers)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1956816" cy="493776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298448"/>
            <a:ext cx="9454896" cy="493776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081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08176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92224"/>
            <a:ext cx="195681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7440" y="1792224"/>
            <a:ext cx="945489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8836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883664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Kubernetes NetworkPolicy — DB only accessible from API pods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86000"/>
            <a:ext cx="195681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0" y="2286000"/>
            <a:ext cx="945489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77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37744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TLS termination at Nginx Ingress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79776"/>
            <a:ext cx="195681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77440" y="2779776"/>
            <a:ext cx="945489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712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Auth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2871216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JWT (HS256, 30-min expiry) + bcrypt (cost 12)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73552"/>
            <a:ext cx="195681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7440" y="3273552"/>
            <a:ext cx="945489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364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Authz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364992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RBAC — role checked on every protected endpoint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767328"/>
            <a:ext cx="195681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77440" y="3767328"/>
            <a:ext cx="945489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8587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Rate Limit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85876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slowapi — 100 requests/minute per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61104"/>
            <a:ext cx="195681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77440" y="4261104"/>
            <a:ext cx="945489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3525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352544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SQLAlchemy ORM — parameterized queries only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754880"/>
            <a:ext cx="195681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77440" y="4754880"/>
            <a:ext cx="945489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846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Privacy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463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Structural anonymization (no user_id in crisis/mood tables)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248656"/>
            <a:ext cx="195681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377440" y="5248656"/>
            <a:ext cx="945489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534009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Secrets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5340096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Kubernetes Secrets + .env (never committed to git)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742432"/>
            <a:ext cx="195681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77440" y="5742432"/>
            <a:ext cx="9454896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58338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5090"/>
                </a:solidFill>
                <a:latin typeface="Arial"/>
              </a:rPr>
              <a:t>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5833872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Bandit static analysis in CI pipeline — 0 HIGH, 0 MEDIUM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Architectural Trade-offs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33333"/>
                </a:solidFill>
                <a:latin typeface="Arial"/>
              </a:rPr>
              <a:t>Honest discussion of design decisions and their consequences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3419856" cy="694944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Decision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737360"/>
            <a:ext cx="3694175" cy="694944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1920240"/>
            <a:ext cx="35661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Benefit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37360"/>
            <a:ext cx="4334256" cy="694944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19" y="19202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Trade-off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32304"/>
            <a:ext cx="3419856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42032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N-Tier over Microservices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39" y="2432304"/>
            <a:ext cx="3694175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79" y="2542032"/>
            <a:ext cx="35661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Simple, testable, right for team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2432304"/>
            <a:ext cx="4334256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254203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Cannot scale individual features independently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127248"/>
            <a:ext cx="3419856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236976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No server-side AI chat storage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39" y="3127248"/>
            <a:ext cx="369417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79" y="3236976"/>
            <a:ext cx="35661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GDPR minimization, privacy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3127248"/>
            <a:ext cx="4334256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3236976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AI has no memory between sessions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22192"/>
            <a:ext cx="3419856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93192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Structural crisis anonymization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39" y="3822192"/>
            <a:ext cx="3694175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79" y="3931920"/>
            <a:ext cx="35661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Identity impossible to leak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3822192"/>
            <a:ext cx="4334256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19" y="393192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Cannot contact student even if they want outreach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517136"/>
            <a:ext cx="3419856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Minikube over cloud K8s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39" y="4517136"/>
            <a:ext cx="3694175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79" y="4626864"/>
            <a:ext cx="35661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Free for students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79" y="4517136"/>
            <a:ext cx="4334256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19" y="4626864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Not production-grade; single-node only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212080"/>
            <a:ext cx="3419856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3218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PostgreSQL over MongoDB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49039" y="5212080"/>
            <a:ext cx="3694175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79" y="5321808"/>
            <a:ext cx="35661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ACID compliance, strong ORM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98079" y="5212080"/>
            <a:ext cx="4334256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9519" y="5321808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Arial"/>
              </a:rPr>
              <a:t>Requires migrations for schema changes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0624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Key insight: Structural anonymization of crisis flags means counselors cannot proactively reach out. Deliberate privacy-safety balance.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Results Summary — All Objectives Delivered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98448"/>
            <a:ext cx="4059936" cy="5486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Objective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98448"/>
            <a:ext cx="3145536" cy="5486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298448"/>
            <a:ext cx="4059936" cy="5486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41732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Achieved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4708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938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Test coverage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47088"/>
            <a:ext cx="31455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93852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≥ 80%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184708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1938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81.84%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39572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871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Story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2395728"/>
            <a:ext cx="31455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24871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93 pts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39572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24871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93 / 93 (100%) 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94436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03580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API endpoints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944368"/>
            <a:ext cx="31455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303580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All features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94436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303580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26 endpoints 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49300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58444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Frontend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493008"/>
            <a:ext cx="31455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0" y="35844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All features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0" y="349300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358444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25 screens 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04164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13308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K8s manifests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041648"/>
            <a:ext cx="31455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413308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Deployment ready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404164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0" y="413308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8 YAML files 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59028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46817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Jenkins stages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4590288"/>
            <a:ext cx="31455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0560" y="468172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Full CI/CD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89520" y="459028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0" y="46817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9 stages 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513892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52303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Ansible playbooks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5138928"/>
            <a:ext cx="31455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60" y="52303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VPS automation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513892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0" y="52303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2 playbooks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68756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577900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Grafana panels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0" y="5687568"/>
            <a:ext cx="31455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80560" y="577900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Observability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89520" y="5687568"/>
            <a:ext cx="4059936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80960" y="577900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6 panels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623620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632764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UML diagrams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89120" y="6236208"/>
            <a:ext cx="31455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80560" y="632764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Architecture doc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6236208"/>
            <a:ext cx="4059936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0" y="632764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080"/>
                </a:solidFill>
                <a:latin typeface="Arial"/>
              </a:rPr>
              <a:t>7 diagrams 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6492240"/>
            <a:ext cx="11612880" cy="22860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" y="6510528"/>
            <a:ext cx="11430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Exam sections: 10/10 covered | Total marks available: 105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Recommendations — What We Would Do With More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Technical Enhancements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19072"/>
            <a:ext cx="347472" cy="347472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719072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WebSockets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665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Real-time crisis alerts without page refresh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23744"/>
            <a:ext cx="347472" cy="347472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2523744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23744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React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712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Native mobile app sharing the same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28416"/>
            <a:ext cx="347472" cy="347472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" y="3328416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28416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PWA + Offline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758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Journal works without internet (Service Workers)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133088"/>
            <a:ext cx="347472" cy="347472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4133088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330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Clinical screening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05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PHQ-9 / GAD-7 integration with auto-escalation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37760"/>
            <a:ext cx="347472" cy="347472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2608" y="4937760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37760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Client-side encryption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85232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Arial"/>
              </a:rPr>
              <a:t>Web Crypto API — DB breach reveals nothing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2984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5090"/>
                </a:solidFill>
                <a:latin typeface="Arial"/>
              </a:rPr>
              <a:t>Process Improvements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783080"/>
            <a:ext cx="164592" cy="16459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71907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Arial"/>
              </a:rPr>
              <a:t>Spike infrastructure stories before committing to sprint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514600"/>
            <a:ext cx="164592" cy="16459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4505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Arial"/>
              </a:rPr>
              <a:t>Playwright E2E tests for critical UI flows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246120"/>
            <a:ext cx="164592" cy="16459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18211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Arial"/>
              </a:rPr>
              <a:t>Story point reference card for infrastructure tasks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977640"/>
            <a:ext cx="164592" cy="16459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91363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Arial"/>
              </a:rPr>
              <a:t>Pair programming for complex DevOps tasks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556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MindBridge | SEN3244 | ICT University of Cameroon | Spring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E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0DCF0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FFF"/>
                </a:solidFill>
                <a:latin typeface="Arial"/>
              </a:rPr>
              <a:t>MindBridge bridges the gap between student distress and campus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3749039" cy="292608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783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08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Privacy by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4320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DCF0"/>
                </a:solidFill>
                <a:latin typeface="Arial"/>
              </a:rPr>
              <a:t>Not policy, not configuration. The database schema structurally prevents identity leakage.
A compromised admin account still cannot identify a student.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691640"/>
            <a:ext cx="3749039" cy="292608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783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08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286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Full-Stack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274320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DCF0"/>
                </a:solidFill>
                <a:latin typeface="Arial"/>
              </a:rPr>
              <a:t>Working code, tests, CI/CD, Kubernetes. Not just architecture diagrams —
a real, deployable system.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691640"/>
            <a:ext cx="3749039" cy="2926080"/>
          </a:xfrm>
          <a:prstGeom prst="rect">
            <a:avLst/>
          </a:prstGeom>
          <a:solidFill>
            <a:srgbClr val="1F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8" y="17830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080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8" y="22860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Real Problem, Real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58" y="274320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DCF0"/>
                </a:solidFill>
                <a:latin typeface="Arial"/>
              </a:rPr>
              <a:t>34% of African university students meet mental health criteria.
MindBridge gives them a safe, anonymous, always-on support channel.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00600"/>
            <a:ext cx="11247120" cy="73152"/>
          </a:xfrm>
          <a:prstGeom prst="rect">
            <a:avLst/>
          </a:prstGeom>
          <a:solidFill>
            <a:srgbClr val="00B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1947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  <a:latin typeface="Arial"/>
              </a:rPr>
              <a:t>"The most important lesson: privacy, like security, is a design property — not a configuration option."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577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Thank you. Questions welcome.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0DCF0"/>
                </a:solidFill>
                <a:latin typeface="Arial"/>
              </a:rPr>
              <a:t>Appendix available on request: ERD detail | Full burndown tables | Bandit output | Coverage HTML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